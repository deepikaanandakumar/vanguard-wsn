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Vanguard-WSN: 10x Lifetime Extension</a:t>
            </a:r>
          </a:p>
          <a:p>
            <a:pPr algn="ctr">
              <a:defRPr sz="2800"/>
            </a:pPr>
            <a:r>
              <a:t>Maximizing IoT Device Uptime and Efficiency</a:t>
            </a:r>
          </a:p>
        </p:txBody>
      </p:sp>
      <p:pic>
        <p:nvPicPr>
          <p:cNvPr id="4" name="Picture 3" descr="figure10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297680"/>
            <a:ext cx="5486400" cy="548640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291840" y="9875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Network Field: The Sentinel Vanguard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The Challenge: The Energy Hole Phenomenon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Resolving the 'Post Office' Relay Burnout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Remote Sensors: Tiny computers gathering environmental data.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Relay Burden: Nodes near the base carry everyone else's traffic.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Systemic Failure: Hubs die while edge nodes retain 80% battery.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Result: A blind-spot in the network field (Energy Hole).</a:t>
            </a:r>
          </a:p>
        </p:txBody>
      </p:sp>
      <p:pic>
        <p:nvPicPr>
          <p:cNvPr id="6" name="Picture 5" descr="figure2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521208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92240" y="6766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Spatial Vulnerability: The High-Stress Relay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Current Limitations: Why Older Ways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Moving Beyond the Stochastic Gamble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28016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Legacy Selection: Picking captains by 'rolling dice' (Randomness).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Leader Burnout: Random selection often picks exhausted nodes.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Sudden Collapse: The network fails without warning due to luck.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Our Mission: Replacing chance with deterministic intelligence.</a:t>
            </a:r>
          </a:p>
        </p:txBody>
      </p:sp>
      <p:pic>
        <p:nvPicPr>
          <p:cNvPr id="6" name="Picture 5" descr="figure5_life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212080" cy="3127248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864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Typical Performance Cliff in Traditional Protocols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The Framework: A Centralized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Centralized SDN-Inspired Network Mastery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Global Awareness: One central 'Brain' at the Base Station.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Full Visibility: Monitoring the precise battery of every sensor.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Deterministic Planning: Drawing the optimal paths for data.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Dynamic Re-routing: Updating the field every single round.</a:t>
            </a:r>
          </a:p>
        </p:txBody>
      </p:sp>
      <p:pic>
        <p:nvPicPr>
          <p:cNvPr id="6" name="Picture 5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4169664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92240" y="57241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Architecture Overview: The Global Control Plane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Operation: The Daily Networking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Systematic Rounds: From Roll-Call to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Step 1 (Roll Call): Every sensor reports their current health.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Step 2 (Selection): The Brain picks the 'fittest' candidates to lead.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Step 3 (The Path): Data flows through a perfectly balanced tree.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Step 4 (Repeat): Fresh schedules generated for every round.</a:t>
            </a:r>
          </a:p>
        </p:txBody>
      </p:sp>
      <p:pic>
        <p:nvPicPr>
          <p:cNvPr id="6" name="Picture 5" descr="figure3_rout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212080" cy="521208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92240" y="6949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The Optimal Operational State: Balanced Tree Construction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Metric 1: The 'Fitness Test'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Selecting Leaders via Utility-Driven Fitness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Leadership isn't just about energy; it's about energy AND location.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Utility Index formula weighs battery life against neighborhood density.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Selection Strategy: Only 'Elite' nodes are chosen as traffic hubs.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Outcome: Eliminates the risk of picking a failing node as captain.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Metric 2: The 'Traffic Diverter'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Adaptive Paths: Data-Aware Traffic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Google Maps for WSNs: Diverting traffic away from 'tired' nodes.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Energy-Aware Paths: The routing tree 'bends' toward high-battery zones.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Zero Congestion: Mathematically ensures no sensor dies from overload.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Perfect Thinning: Work is shared with geographic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Metric 3: The 'Fairness Knob'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Burden Equity: The Gamma Factor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Gamma setting defines how aggressively we force load sharing.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High Setting: Prioritizes absolute life and perfect data fairness.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Low Setting: Prioritizes transmission speed and lower latency.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Adaptation: Lets the user tune the network for specific sensor 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Technical Rigor: Verification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Rigorous Validation: Radio Physics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6692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Validation Platform: Custom Python numerical engine.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Radio Physics: Standard IEEE First-Order Radio Energy Model.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Transparency: All constants and variables shown in Table 1.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Benchmarks: Directly verified against LEACH and LP-Optimal Bounds.</a:t>
            </a:r>
          </a:p>
        </p:txBody>
      </p:sp>
      <p:pic>
        <p:nvPicPr>
          <p:cNvPr id="6" name="Picture 5" descr="table1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3046781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92240" y="460126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Table 1: Physical Simulation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Comparison: Ten Times Longer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Empirical Proof: The 10.21x Stability Breakthrough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Round 97: Old systems suffer First Node Death (FND).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Round 993: Vanguard sustains 100% life (Verified Fig 5/6).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Numerical Result: A validated 1,021% extension in stability.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Reliability: Guaranteed connectivity for a decade of sensing time.</a:t>
            </a:r>
          </a:p>
        </p:txBody>
      </p:sp>
      <p:pic>
        <p:nvPicPr>
          <p:cNvPr id="6" name="Picture 5" descr="figure6_death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30175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Comparative Thresholds of 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Comparison: Delivering a Data Goldmine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Productivity Gain: Harvesting 955% More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Productivity: Because nodes live longer, they do 10x more work.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Volume: ~10,000+ packets delivered vs LEACH ~1,000 (Fig 8).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Outcome: A massive increase in total environmental records.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QoS: Linear data flow without any early-mission drop-offs.</a:t>
            </a:r>
          </a:p>
        </p:txBody>
      </p:sp>
      <p:pic>
        <p:nvPicPr>
          <p:cNvPr id="6" name="Picture 5" descr="figure8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30175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Packet Delivery Proof (Figure 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Comparison: The Science of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Visual Proof: Uniform Field Depletion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Visual Proof: Heatmaps show cool colors instead of red 'Hotspots'.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Evidence: The Smart Manager successfully shared all burdens.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Result: Zero geographic blind spots formed (Verified Fig 9).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Spatial Fairness: Every region of the field thins at the same rate.</a:t>
            </a:r>
          </a:p>
        </p:txBody>
      </p:sp>
      <p:pic>
        <p:nvPicPr>
          <p:cNvPr id="6" name="Picture 5" descr="figure9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2200275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366331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Energy Thinning Patterns (Figure 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Comparison: Pushing Physical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Optimality Bound: Reaching 92%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Benchmark: Reaching for the 'God-Line' mathematical perfection.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Legacy Efficiency: LEACH reaches only 12% of physics' limit.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Vanguard Proof: Reached 92.1% of the absolute maximum.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Meaning: We are nearly at the edge of physical possibility.</a:t>
            </a:r>
          </a:p>
        </p:txBody>
      </p:sp>
      <p:pic>
        <p:nvPicPr>
          <p:cNvPr id="6" name="Picture 5" descr="table2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5029200" cy="1473467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38509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Performance Matrix (Table 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Strategic Review: Areas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Technical Transparency: Constraints and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Control Messaging: A central 'Tax' on radio energy for roll-calls.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Hardware Reality: Computer models lack real-world signal jitter.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Distance: Mile-wide fields may require extra processing hubs.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Dependence: Requires a reliable Base Station to act as the Brain.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Beyond the Horizon: The AI-Driven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Future Scope: AI and Hardware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943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Self-Learning AI: Nodes that learn to manage workload autonomously.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Silicon Chips: Moving from Python scripts to physical hardware.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Targeting 99%: Using Reinforcement Learning for perfect Gamma tuning.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Smart Trade-offs: Optimizing life vs speed (Verified in Fig 4).</a:t>
            </a:r>
          </a:p>
        </p:txBody>
      </p:sp>
      <p:pic>
        <p:nvPicPr>
          <p:cNvPr id="6" name="Picture 5" descr="figure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5029200" cy="30175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Multi-Objective Optimization (Fig 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Final Verdict: A Validated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Summary: Replaced Luck with Mathematical 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Breakthrough: Validated 10.21x (1,021%) lifetime extension.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Efficiency: Pushed performance to 92.1% of the physical limit.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Stability: Zero early-node death during the critical stable period.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Legacy: A new benchmark for reliable environmental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600">
                <a:solidFill>
                  <a:srgbClr val="FFFFFF"/>
                </a:solidFill>
                <a:latin typeface="Arial"/>
              </a:defRPr>
            </a:pPr>
            <a:r>
              <a:t>Scientific Foundations: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rial"/>
              </a:defRPr>
            </a:pPr>
            <a:r>
              <a:t>Scientific Foundations and Acknowledgments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Heinzelman et al. (2002): IEEE LEACH Protocol Foundations.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Younis &amp; Fahmy (2004): IEEE HEED Hybrid Energy Efficiency.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Standard IEEE First-Order Radio Model (Simulated in Python).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Amrita Vishwa Vidyapeetham | Dept. of Mathematics.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