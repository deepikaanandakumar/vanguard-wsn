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Vanguard-WSN: 10.21x Lifetime Extension via Utility-Driven Routing</a:t>
            </a:r>
          </a:p>
          <a:p>
            <a:pPr algn="ctr">
              <a:defRPr sz="2400"/>
            </a:pPr>
            <a:r>
              <a:t>Addressing the 'Energy Hole' Gap with Deterministic Tree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1. Problem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Problem: Energy Hole Phenomenon (Relay Burnout).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Legacy Failure: Randomized protocols (LEACH) pick weak leaders.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Systemic Collapse: Edge nodes die despite having 80% battery.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Objectives: Replace chance with deterministic logic.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Target: Maximize Network Stability (FND) and Data Throughput.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Goal: Approach the Theoretical God-Line (LP-Bound).</a:t>
            </a:r>
          </a:p>
        </p:txBody>
      </p:sp>
      <p:pic>
        <p:nvPicPr>
          <p:cNvPr id="5" name="Picture 4" descr="figure2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53035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67208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2: Spatial Deployment and Relay Vulnerability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2. Literature Survey: Comparative Gaps</a:t>
            </a:r>
          </a:p>
        </p:txBody>
      </p:sp>
      <p:pic>
        <p:nvPicPr>
          <p:cNvPr id="4" name="Picture 3" descr="table4_literature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59022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71600" y="5007543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Gap Analysis: Why LEACH/HEED/PEGASIS fall short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3. Flow Diagram: System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1. Initialization</a:t>
            </a:r>
          </a:p>
          <a:p>
            <a:r>
              <a:t>BS Placement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95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73931501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2. Heartbeat</a:t>
            </a:r>
          </a:p>
          <a:p>
            <a:r>
              <a:t>Health Check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73933531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7862637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 Control Plane</a:t>
            </a:r>
          </a:p>
          <a:p>
            <a:r>
              <a:t>Utility Selection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7864667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21793773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4. Routing</a:t>
            </a:r>
          </a:p>
          <a:p>
            <a:r>
              <a:t>EBPT Construction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21795803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5724909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5. Transmission</a:t>
            </a:r>
          </a:p>
          <a:p>
            <a:r>
              <a:t>Data Relay</a:t>
            </a:r>
          </a:p>
        </p:txBody>
      </p:sp>
      <p:pic>
        <p:nvPicPr>
          <p:cNvPr id="13" name="Picture 12" descr="figure3_rout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74720"/>
            <a:ext cx="5760720" cy="57607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200400" y="928116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3: Resulting Energy-Balanced Path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4. Proposed Model: The Vanguard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Hybrid Design: SDN Centralized + Tree Routing.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Utility Function (Ui): Prioritizes energy over distance.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EBPT Algorithm: Ensures data moves toward sink via healthy nodes.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Acyclic Guarantee: Deterministic DAG logic eliminates loops.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Adaptive Gamma: Dynamically balances load as battery dies.</a:t>
            </a:r>
          </a:p>
        </p:txBody>
      </p:sp>
      <p:pic>
        <p:nvPicPr>
          <p:cNvPr id="5" name="Picture 4" descr="figur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65760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0" y="5074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1: High-Level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5. Implementation: Stack &amp; Radio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Language: Python 3.8+ (High Precision).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Engine: NumPy &amp; SciPy (Vectorized Heuristics).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Physics: First-Order Radio Model (E_elec, d0).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Visualization: Matplotlib &amp; Heatmapping.</a:t>
            </a:r>
          </a:p>
        </p:txBody>
      </p:sp>
      <p:pic>
        <p:nvPicPr>
          <p:cNvPr id="5" name="Picture 4" descr="table1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10023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4517553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Table 1: Physical Parameters of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5. Implementation: Core Algorithm (Python)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82828"/>
                </a:solidFill>
                <a:latin typeface="Courier New"/>
              </a:defRPr>
            </a:pPr>
            <a:r>
              <a:t>def calculate_utility(node_energy, density):</a:t>
            </a:r>
          </a:p>
          <a:p>
            <a:r>
              <a:t>    # Equation 1: The Fitness Test</a:t>
            </a:r>
          </a:p>
          <a:p>
            <a:r>
              <a:t>    ui = (0.6 * node_energy) + (0.4 * density)</a:t>
            </a:r>
          </a:p>
          <a:p>
            <a:r>
              <a:t>    return ui</a:t>
            </a:r>
          </a:p>
          <a:p/>
          <a:p>
            <a:r>
              <a:t>def select_parent(candidates, gamma):</a:t>
            </a:r>
          </a:p>
          <a:p>
            <a:r>
              <a:t>    # Equation 2: The Traffic Diverter</a:t>
            </a:r>
          </a:p>
          <a:p>
            <a:r>
              <a:t>    scores = [c.energy - (gamma * c.load) for c in candidates]</a:t>
            </a:r>
          </a:p>
          <a:p>
            <a:r>
              <a:t>    return candidates[np.argmax(scores)]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5. Implementation: Executed Output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&gt; python run_experiments.py --seeds 1 --rounds 1500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Calculating LP Upper Bound (God Line)...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  Avg LP Bound: 3292.5 rounds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Simulating EBPT_Flat_Gamma_0.5...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  Seed 0 finished with FND: 2903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FND Mean: 2782.6 (84.5% of Optimal)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----------------------------------------</a:t>
            </a:r>
          </a:p>
          <a:p>
            <a:pPr>
              <a:defRPr sz="2000">
                <a:solidFill>
                  <a:srgbClr val="00FF00"/>
                </a:solidFill>
                <a:latin typeface="Courier New"/>
              </a:defRPr>
            </a:pPr>
            <a:r>
              <a:t>STATUS: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1021% Extension vs.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Vanguard Stability: 993 Rounds (FND).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LEACH Stability: 97 Rounds (FND).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Breakthrough: 10.21x increase in reliable field monitoring.</a:t>
            </a:r>
          </a:p>
        </p:txBody>
      </p:sp>
      <p:pic>
        <p:nvPicPr>
          <p:cNvPr id="5" name="Picture 4" descr="figure6_death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18211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4873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6: Comparative Death Curves (Validated)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Why it Works (Ablation Study)</a:t>
            </a:r>
          </a:p>
        </p:txBody>
      </p:sp>
      <p:pic>
        <p:nvPicPr>
          <p:cNvPr id="4" name="Picture 3" descr="table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567764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71600" y="498508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Table 3: Validating individual component impact (Gamma/Utility)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Performance Benchmarking</a:t>
            </a:r>
          </a:p>
        </p:txBody>
      </p:sp>
      <p:pic>
        <p:nvPicPr>
          <p:cNvPr id="4" name="Picture 3" descr="table2_expanded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59022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71600" y="5007543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The Final Verdict: Vanguard vs. Legacy 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7. Challenges and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Challenge: Centralization vs. Scaling (BS capacity bottleneck).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Chatter Tax: Balancing the cost of health reports.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Future (AI): RL agents for zero-human Gamma tuning.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Hardware: Transition from Python-Sim to Arduino real-nodes.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Meet the Team: Case Study Authors</a:t>
            </a:r>
          </a:p>
        </p:txBody>
      </p:sp>
      <p:pic>
        <p:nvPicPr>
          <p:cNvPr id="4" name="Picture 3" descr="table5_team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59022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71600" y="5007543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Attribution Matrix: Technical &amp; Operational Roles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8.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1. Heinzelman - 'LEACH Protocol', IEEE 2000.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2. Younis - 'HEED Clustering', IEEE 2004.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3. Vanguard - 'Utility-Driven-EBPT',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