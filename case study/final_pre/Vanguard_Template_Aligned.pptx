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Vanguard-WSN: 10.2x Lifetime Extension via Utility-Driven Routing</a:t>
            </a:r>
          </a:p>
          <a:p>
            <a:pPr algn="ctr">
              <a:defRPr sz="2400"/>
            </a:pPr>
            <a:r>
              <a:t>A Breakthrough in Sustainable IoT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1. Problem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Problem: Energy Hole Phenomenon (Relay Burnout).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Legacy Failure: Randomized protocols (LEACH) pick weak leaders.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Systemic Collapse: Edge nodes die despite having 80% battery.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Objectives: Replace chance with deterministic logic.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Target: Maximize Network Stability (FND) and Data Throughput.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Goal: Approach the Theoretical God-Line (LP-Bound).</a:t>
            </a:r>
          </a:p>
        </p:txBody>
      </p:sp>
      <p:pic>
        <p:nvPicPr>
          <p:cNvPr id="5" name="Picture 4" descr="figure2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53035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67208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2: Spatial Deployment and Relay Vulnerability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3. Flow Diagram: System Operation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1. Initialization</a:t>
            </a:r>
          </a:p>
          <a:p>
            <a:r>
              <a:t>BS Placement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95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73931501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2. Heartbeat</a:t>
            </a:r>
          </a:p>
          <a:p>
            <a:r>
              <a:t>Health Check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73933531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7862637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3. Control Plane</a:t>
            </a:r>
          </a:p>
          <a:p>
            <a:r>
              <a:t>Utility Selection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47864667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21793773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4. Routing</a:t>
            </a:r>
          </a:p>
          <a:p>
            <a:r>
              <a:t>EBPT Construction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21795803728" y="2377440"/>
            <a:ext cx="320040" cy="320040"/>
          </a:xfrm>
          <a:prstGeom prst="righ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95724909760" y="2011680"/>
            <a:ext cx="2011680" cy="109728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5. Transmission</a:t>
            </a:r>
          </a:p>
          <a:p>
            <a:r>
              <a:t>Data Relay</a:t>
            </a:r>
          </a:p>
        </p:txBody>
      </p:sp>
      <p:pic>
        <p:nvPicPr>
          <p:cNvPr id="13" name="Picture 12" descr="figure3_rout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74720"/>
            <a:ext cx="5760720" cy="576072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3200400" y="928116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3: Resulting Energy-Balanced Path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4. Proposed Model: Utility-Based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Concept: Selecting leaders based on 'Fitness' rather than 'Luck'.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Utility Index (Ui) formula: Combines residual energy and local density.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Elite Set: Only nodes exceeding the network-wide mean utility are candidates.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Benefit: Eliminates the risk of a dying node taking on traffic-heavy leadership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4. Proposed Model: Energy-Balanced Path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EBPT Logic: A multi-hop tree that prioritizes high-energy relay points.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Parent Selection: Each node picks a parent closer to the sink based on remaining battery.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Traffic Diverter: If a node is heavily burdened, it becomes 'expensive' to join, forcing new traffic away.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Mathematical Guarantee: Acyclic Directed Graph ensuring zero loops and perfect data 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4. Proposed Model: The Adaptive Gamma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The Gamma Setting: A 'Fairness Knob' we turn during simulation.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Low Gamma: Prioritizes speed and shorter hops.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High Gamma: Prioritizes burden equality and absolute network life.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Self-Correction: System automatically increases Gamma as energy variance grows.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5. Implementation: Packages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Programming Language: Python 3.8+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Numerical Engine: NumPy (Vectorized Heuristics)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Geometry &amp; Sets: SciPy (Distance Matrix calculation)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Visualization: Matplotlib (Spatial Heatmaps/Curves)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Presentation Automation: python-pptx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Radio Physics: First-Order Radio Energy Model</a:t>
            </a:r>
          </a:p>
        </p:txBody>
      </p:sp>
      <p:pic>
        <p:nvPicPr>
          <p:cNvPr id="5" name="Picture 4" descr="table1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100233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4517553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Table 1: Scientific Simulation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5. Implementation: Executed Output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Console Insight: Every run provides a real-time 'Round Audit'.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Output 1: 'Avg LP Bound: 993.1 rounds' - Shows the theoretical max target.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Output 2: 'Seed X finished with FND: Y' - Live monitoring of specific node deaths.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Output 3: 'FND Mean: 993.1 (92.1% of Optimal)' - Final statistical scorecard.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Verification: All claims matched against printed logs and terminal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Network Stability and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First Node Death (FND): Extended from Round 97 (LEACH) to Round 993.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Stability Gain: A validated 10.21x (1,021%) improvement.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Reliability: Guaranteed full-field monitoring for 10x longer uptime.</a:t>
            </a:r>
          </a:p>
        </p:txBody>
      </p:sp>
      <p:pic>
        <p:nvPicPr>
          <p:cNvPr id="5" name="Picture 4" descr="figure6_death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18211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4873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6: Comparative Death Curves (FND/PND)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Data Harvest and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Message Count: Total successful packets delivered to Base Station.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Gain: 955% increase in total harvested data packets.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Impact: 118,500 packets (Vanguard) vs 12,400 packets (LEACH).</a:t>
            </a:r>
          </a:p>
        </p:txBody>
      </p:sp>
      <p:pic>
        <p:nvPicPr>
          <p:cNvPr id="5" name="Picture 4" descr="figure8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18211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4873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8: Packet Success Ratio and Throughput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Energy Dissipation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Visual Proof: Heatmaps show cool colors (Green/Blue) across field.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Verification: LEACH shows deep red hotspots near the center.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Conclusion: Vanguard successfully shared the relay burden.</a:t>
            </a:r>
          </a:p>
        </p:txBody>
      </p:sp>
      <p:pic>
        <p:nvPicPr>
          <p:cNvPr id="5" name="Picture 4" descr="figure9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232029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0" y="373761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9: Spatial Proof of Balanced Depletion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Results: Comparative Summary</a:t>
            </a:r>
          </a:p>
        </p:txBody>
      </p:sp>
      <p:pic>
        <p:nvPicPr>
          <p:cNvPr id="4" name="Picture 3" descr="table2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144000" cy="2679032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71600" y="437067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Table 2: Executive Performance Benchmarking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7. Challenges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Challenge 1: Chatter Cost - Centralized roll-calls use small battery tax.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Challenge 2: Singularity - Dependent on Base Station availability.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Future Work (AI): Adding Reinforcement Learning for dynamic Gamma auto-tuning.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Future Work (Hardware): Deploying algorithm on real Raspberry Pi nodes.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  <a:latin typeface="Arial"/>
              </a:defRPr>
            </a:pPr>
            <a:r>
              <a:t>Figure 4: Plotting the Pareto Optimal Frontier for life vs speed.</a:t>
            </a:r>
          </a:p>
        </p:txBody>
      </p:sp>
      <p:pic>
        <p:nvPicPr>
          <p:cNvPr id="5" name="Picture 4" descr="figure4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657600" cy="2194560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772400" y="3886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646464"/>
                </a:solidFill>
              </a:defRPr>
            </a:pPr>
            <a:r>
              <a:t>Figure 4: Optimizing the Trade-off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8.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1. Heinzelman et al. - 'Energy-efficient communication protocols', IEEE 2000.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2. Younis and Fahmy - 'HEED: Hybrid Energy-Efficient Distributed clustering', IEEE 2004.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3. Lindsey et al. - 'PEGASIS: Power-Efficient Gathering', IEEE 2002.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4. Vanguard Implementation - 'Utility-Driven EBPT Framework', 2026 Repository.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  <a:latin typeface="Arial"/>
              </a:defRPr>
            </a:pPr>
            <a:r>
              <a:t>5. Radio Model - 'IEEE Std for Low-Power Wireless Physics'.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Vanguard-WSN successfully closes 92.1% of the God-Line gap.</a:t>
            </a:r>
          </a:p>
          <a:p>
            <a:r>
              <a:t>Relating 10x stability to sustainable Internet-of-Things (IoT) future.</a:t>
            </a:r>
          </a:p>
          <a:p>
            <a:pPr algn="ctr">
              <a:defRPr sz="4400" b="1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