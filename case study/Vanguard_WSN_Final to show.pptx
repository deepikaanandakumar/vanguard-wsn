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8" r:id="rId5"/>
    <p:sldId id="273" r:id="rId6"/>
    <p:sldId id="259" r:id="rId7"/>
    <p:sldId id="260" r:id="rId8"/>
    <p:sldId id="261" r:id="rId9"/>
    <p:sldId id="274" r:id="rId10"/>
    <p:sldId id="262" r:id="rId11"/>
    <p:sldId id="263" r:id="rId12"/>
    <p:sldId id="264" r:id="rId13"/>
    <p:sldId id="271" r:id="rId14"/>
    <p:sldId id="265" r:id="rId15"/>
    <p:sldId id="266" r:id="rId16"/>
    <p:sldId id="267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3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05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623560" y="0"/>
            <a:ext cx="137160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94360"/>
            <a:ext cx="685800" cy="6858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57200" y="13898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FFFFFF"/>
                </a:solidFill>
              </a:rPr>
              <a:t>VANGUARD-WSN</a:t>
            </a:r>
            <a:endParaRPr lang="en-US" sz="4000" dirty="0"/>
          </a:p>
        </p:txBody>
      </p:sp>
      <p:sp>
        <p:nvSpPr>
          <p:cNvPr id="35" name="Text 31"/>
          <p:cNvSpPr/>
          <p:nvPr/>
        </p:nvSpPr>
        <p:spPr>
          <a:xfrm>
            <a:off x="457200" y="206654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8DEFF"/>
                </a:solidFill>
              </a:rPr>
              <a:t>10.21× Lifetime Extension via Utility-Driven Routing</a:t>
            </a:r>
            <a:endParaRPr lang="en-US" sz="1450" dirty="0"/>
          </a:p>
        </p:txBody>
      </p:sp>
      <p:sp>
        <p:nvSpPr>
          <p:cNvPr id="36" name="Shape 32"/>
          <p:cNvSpPr/>
          <p:nvPr/>
        </p:nvSpPr>
        <p:spPr>
          <a:xfrm>
            <a:off x="457200" y="2624328"/>
            <a:ext cx="1828800" cy="457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5720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0"/>
                </a:solidFill>
              </a:rPr>
              <a:t>A Breakthrough in Sustainable IoT Infrastructure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5720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</a:rPr>
              <a:t>Deepika A  ·  Aishvarya G  ·  Gayatri K  ·  Anjana A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57200" y="3977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0"/>
                </a:solidFill>
              </a:rPr>
              <a:t>Department of Mathematics  ·  Amrita Vishwa Vidyapeetham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PROBLEM &amp; OBJECTIVES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The Energy Hole Problem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Why existing wireless sensor networks fail prematurely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069080" cy="3383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338328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17320"/>
            <a:ext cx="3794760" cy="31546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17720" y="1325880"/>
            <a:ext cx="416052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325880"/>
            <a:ext cx="64008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4630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4173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Energy Hole Phenomenon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73168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Relay nodes near the base station carry all traffic and die first — even if distant nodes have 80% battery remaining.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17720" y="2468880"/>
            <a:ext cx="416052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17720" y="2468880"/>
            <a:ext cx="64008" cy="10058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6060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0368" y="25603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Legacy Protocol Failure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773168" y="2926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LEACH picks cluster heads by random dice roll — often selecting exhausted nodes, causing abrupt network collapse.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17720" y="3611880"/>
            <a:ext cx="416052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17720" y="3611880"/>
            <a:ext cx="64008" cy="100584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74904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37033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Our Objective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773168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Replace chance with deterministic logic. Maximize stability (FND) and throughput. Approach the theoretical God-Line LP Bound.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ED589C-64C3-A8BA-E908-724B833634B0}"/>
              </a:ext>
            </a:extLst>
          </p:cNvPr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CAE6F5-F907-7568-2840-42AECAF08437}"/>
              </a:ext>
            </a:extLst>
          </p:cNvPr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PROBLEM &amp; OBJECTIVES</a:t>
            </a:r>
            <a:endParaRPr lang="en-US" sz="8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64B73C-C2A1-BCDF-E95E-91F9AF5925C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9E5BBC-04C5-3178-6AD1-DDD460D9A49F}"/>
              </a:ext>
            </a:extLst>
          </p:cNvPr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1CDF93-8C78-E797-042D-AA5C38086AC0}"/>
              </a:ext>
            </a:extLst>
          </p:cNvPr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IN" sz="2400" dirty="0">
                <a:solidFill>
                  <a:srgbClr val="002060"/>
                </a:solidFill>
              </a:rPr>
              <a:t> Literature Survey: Comparative Gaps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3B6B2E-2FAB-8BE8-6A2A-71E079A05D09}"/>
              </a:ext>
            </a:extLst>
          </p:cNvPr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4EBC079-7177-9F26-9891-F7C7D3A72F7C}"/>
              </a:ext>
            </a:extLst>
          </p:cNvPr>
          <p:cNvSpPr/>
          <p:nvPr/>
        </p:nvSpPr>
        <p:spPr>
          <a:xfrm>
            <a:off x="365760" y="1325880"/>
            <a:ext cx="8503920" cy="3383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6B755B2-FA25-309E-6419-710036A29F1C}"/>
              </a:ext>
            </a:extLst>
          </p:cNvPr>
          <p:cNvSpPr/>
          <p:nvPr/>
        </p:nvSpPr>
        <p:spPr>
          <a:xfrm>
            <a:off x="365760" y="1325880"/>
            <a:ext cx="64008" cy="338328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26" name="Picture 25" descr="table4_literature_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16" y="1453895"/>
            <a:ext cx="8173803" cy="3081285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26961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SYSTEM ARCHITECTURE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System Operation Flow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Every round: sense → rank → route → transmit → repeat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393192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3807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</a:rPr>
              <a:t>INITIALIZATION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65506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BS placement &amp; node random deployment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1947672"/>
            <a:ext cx="54864" cy="109728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5740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1122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</a:rPr>
              <a:t>HEARTBEAT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3865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Global health check — all nodes report battery status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2679192"/>
            <a:ext cx="54864" cy="10972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8892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843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</a:rPr>
              <a:t>CONTROL PLANE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11810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Utility index computed at Base Station for all nodes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" y="3410712"/>
            <a:ext cx="54864" cy="1097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2044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575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</a:rPr>
              <a:t>ROUTING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8496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EBPT Tree constructed with energy-balanced paths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" y="4142232"/>
            <a:ext cx="54864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25196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34340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43068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D1B3E"/>
                </a:solidFill>
              </a:rPr>
              <a:t>TRANSMISSION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45811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Data relay cycle executes — plan refreshes next round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80560" y="1325880"/>
            <a:ext cx="4297680" cy="3383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325880"/>
            <a:ext cx="64008" cy="3383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7720" y="1417320"/>
            <a:ext cx="4023360" cy="315468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4617720" y="4572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C0"/>
                </a:solidFill>
              </a:rPr>
              <a:t>Figure 3: Energy-Balanced Path Tree (EBPT)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5998D6-C67D-8A80-A635-818EE4CAF077}"/>
              </a:ext>
            </a:extLst>
          </p:cNvPr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5668C6-4F11-D325-F4BF-73119A870FC4}"/>
              </a:ext>
            </a:extLst>
          </p:cNvPr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PROPOSED MODEL</a:t>
            </a:r>
            <a:endParaRPr lang="en-US" sz="8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7C73AA-B293-BADE-AE33-1B893DA74FF1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44C181-B287-C2B3-2394-512BB71B8A15}"/>
              </a:ext>
            </a:extLst>
          </p:cNvPr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D89BD5-4399-57DD-EB6F-8008380CD53E}"/>
              </a:ext>
            </a:extLst>
          </p:cNvPr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GB" sz="2400" dirty="0">
                <a:solidFill>
                  <a:srgbClr val="002060"/>
                </a:solidFill>
              </a:rPr>
              <a:t>Proposed Model: The Vanguard Framework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3E092C-A79C-CC17-1F99-2E688EC228EA}"/>
              </a:ext>
            </a:extLst>
          </p:cNvPr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7769A4F-1B2F-5745-2DCB-92157B7EC087}"/>
              </a:ext>
            </a:extLst>
          </p:cNvPr>
          <p:cNvSpPr/>
          <p:nvPr/>
        </p:nvSpPr>
        <p:spPr>
          <a:xfrm>
            <a:off x="594360" y="14447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8AB345-694D-356D-DCC5-191D65E337AA}"/>
              </a:ext>
            </a:extLst>
          </p:cNvPr>
          <p:cNvSpPr/>
          <p:nvPr/>
        </p:nvSpPr>
        <p:spPr>
          <a:xfrm>
            <a:off x="594360" y="175564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B295EAA-870F-777E-FE42-182CDF339D33}"/>
              </a:ext>
            </a:extLst>
          </p:cNvPr>
          <p:cNvSpPr/>
          <p:nvPr/>
        </p:nvSpPr>
        <p:spPr>
          <a:xfrm>
            <a:off x="502920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5183A61-4B7F-BDD5-B647-A493E94B0A72}"/>
              </a:ext>
            </a:extLst>
          </p:cNvPr>
          <p:cNvSpPr/>
          <p:nvPr/>
        </p:nvSpPr>
        <p:spPr>
          <a:xfrm>
            <a:off x="502920" y="37307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B7E202D-A983-84D1-159E-F5770F297CB5}"/>
              </a:ext>
            </a:extLst>
          </p:cNvPr>
          <p:cNvSpPr/>
          <p:nvPr/>
        </p:nvSpPr>
        <p:spPr>
          <a:xfrm>
            <a:off x="3337560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4B671359-9D61-3AFF-B9AF-5637F3412769}"/>
              </a:ext>
            </a:extLst>
          </p:cNvPr>
          <p:cNvSpPr/>
          <p:nvPr/>
        </p:nvSpPr>
        <p:spPr>
          <a:xfrm>
            <a:off x="3337560" y="37307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CC9BA371-CAE2-A797-7352-89318DC60366}"/>
              </a:ext>
            </a:extLst>
          </p:cNvPr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BB417FBA-0C86-679B-AA04-F71D52C63C3D}"/>
              </a:ext>
            </a:extLst>
          </p:cNvPr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IMPLEMENTATION</a:t>
            </a:r>
            <a:endParaRPr lang="en-US" sz="85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85284942-D5DD-18F6-9DF2-F3E216B43A2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A4185884-508D-9193-87C3-48A3155C8D16}"/>
              </a:ext>
            </a:extLst>
          </p:cNvPr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1B8A6EEF-ABBA-34C9-DC5C-0CFE9658DF7A}"/>
              </a:ext>
            </a:extLst>
          </p:cNvPr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F2B47084-896F-013F-A808-7A57B6954CC6}"/>
              </a:ext>
            </a:extLst>
          </p:cNvPr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Rigorous, standards-based implementation</a:t>
            </a:r>
            <a:endParaRPr lang="en-US" sz="12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A7D499C5-AFC9-00E5-77CB-1DEECA2E7978}"/>
              </a:ext>
            </a:extLst>
          </p:cNvPr>
          <p:cNvSpPr/>
          <p:nvPr/>
        </p:nvSpPr>
        <p:spPr>
          <a:xfrm>
            <a:off x="1012517" y="1350191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94B157E5-E4F4-7DC2-4ADF-EC77C4FC012E}"/>
              </a:ext>
            </a:extLst>
          </p:cNvPr>
          <p:cNvSpPr/>
          <p:nvPr/>
        </p:nvSpPr>
        <p:spPr>
          <a:xfrm>
            <a:off x="1012517" y="1350191"/>
            <a:ext cx="64008" cy="1600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EA8A11C4-B0D1-28A8-CCEE-29EF69A54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97" y="1514783"/>
            <a:ext cx="402336" cy="402336"/>
          </a:xfrm>
          <a:prstGeom prst="rect">
            <a:avLst/>
          </a:prstGeom>
        </p:spPr>
      </p:pic>
      <p:sp>
        <p:nvSpPr>
          <p:cNvPr id="36" name="Text 8">
            <a:extLst>
              <a:ext uri="{FF2B5EF4-FFF2-40B4-BE49-F238E27FC236}">
                <a16:creationId xmlns:a16="http://schemas.microsoft.com/office/drawing/2014/main" id="{D44C4962-9A50-CE88-5EA4-F950957B0F0D}"/>
              </a:ext>
            </a:extLst>
          </p:cNvPr>
          <p:cNvSpPr/>
          <p:nvPr/>
        </p:nvSpPr>
        <p:spPr>
          <a:xfrm>
            <a:off x="1177109" y="1990271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00" dirty="0"/>
              <a:t>Hybrid Design: SDN Centralized + Tree Routing</a:t>
            </a: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4FB7CEFD-9247-B994-3C01-6B1B87FF690F}"/>
              </a:ext>
            </a:extLst>
          </p:cNvPr>
          <p:cNvSpPr/>
          <p:nvPr/>
        </p:nvSpPr>
        <p:spPr>
          <a:xfrm>
            <a:off x="530352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C897AFCE-54EF-F6C0-D4BF-14DEE85B8FAB}"/>
              </a:ext>
            </a:extLst>
          </p:cNvPr>
          <p:cNvSpPr/>
          <p:nvPr/>
        </p:nvSpPr>
        <p:spPr>
          <a:xfrm>
            <a:off x="3207077" y="1350191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6A50D5CF-AC0D-59AC-DF33-E8DA3B6E831D}"/>
              </a:ext>
            </a:extLst>
          </p:cNvPr>
          <p:cNvSpPr/>
          <p:nvPr/>
        </p:nvSpPr>
        <p:spPr>
          <a:xfrm>
            <a:off x="3207077" y="1350191"/>
            <a:ext cx="64008" cy="1600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C515B9E8-5DCE-4F8D-E3D6-83AF50798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957" y="1514783"/>
            <a:ext cx="402336" cy="402336"/>
          </a:xfrm>
          <a:prstGeom prst="rect">
            <a:avLst/>
          </a:prstGeom>
        </p:spPr>
      </p:pic>
      <p:sp>
        <p:nvSpPr>
          <p:cNvPr id="41" name="Text 12">
            <a:extLst>
              <a:ext uri="{FF2B5EF4-FFF2-40B4-BE49-F238E27FC236}">
                <a16:creationId xmlns:a16="http://schemas.microsoft.com/office/drawing/2014/main" id="{AA5CAF3D-93FE-3524-9F7A-242874F0682E}"/>
              </a:ext>
            </a:extLst>
          </p:cNvPr>
          <p:cNvSpPr/>
          <p:nvPr/>
        </p:nvSpPr>
        <p:spPr>
          <a:xfrm>
            <a:off x="3371669" y="1990271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00" dirty="0"/>
              <a:t>Utility Function (Ui): Prioritizes energy over distance.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462417CD-5910-95C8-EFF1-0BA7AFC50257}"/>
              </a:ext>
            </a:extLst>
          </p:cNvPr>
          <p:cNvSpPr/>
          <p:nvPr/>
        </p:nvSpPr>
        <p:spPr>
          <a:xfrm>
            <a:off x="2724912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C602D05A-6B37-0E0F-6067-A707771F0D16}"/>
              </a:ext>
            </a:extLst>
          </p:cNvPr>
          <p:cNvSpPr/>
          <p:nvPr/>
        </p:nvSpPr>
        <p:spPr>
          <a:xfrm>
            <a:off x="1810331" y="3185014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C9CEEB5C-3F8A-FC32-FD49-F63EC6CEAE24}"/>
              </a:ext>
            </a:extLst>
          </p:cNvPr>
          <p:cNvSpPr/>
          <p:nvPr/>
        </p:nvSpPr>
        <p:spPr>
          <a:xfrm>
            <a:off x="1810331" y="3185014"/>
            <a:ext cx="64008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B01D0F68-EB1A-223B-AA8C-8E318D48319A}"/>
              </a:ext>
            </a:extLst>
          </p:cNvPr>
          <p:cNvSpPr/>
          <p:nvPr/>
        </p:nvSpPr>
        <p:spPr>
          <a:xfrm>
            <a:off x="1974923" y="3825094"/>
            <a:ext cx="17373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00" dirty="0"/>
              <a:t>EBPT Algorithm: Ensures data moves toward sink via healthy nodes.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B48477C6-1FD2-D72B-597E-C6076C098D29}"/>
              </a:ext>
            </a:extLst>
          </p:cNvPr>
          <p:cNvSpPr/>
          <p:nvPr/>
        </p:nvSpPr>
        <p:spPr>
          <a:xfrm>
            <a:off x="530352" y="41148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BB4D8B7A-A192-41AC-8E28-CDAD16E061A0}"/>
              </a:ext>
            </a:extLst>
          </p:cNvPr>
          <p:cNvSpPr/>
          <p:nvPr/>
        </p:nvSpPr>
        <p:spPr>
          <a:xfrm>
            <a:off x="4247025" y="3140238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6CF806D8-F3CA-655C-C475-6FDF98915312}"/>
              </a:ext>
            </a:extLst>
          </p:cNvPr>
          <p:cNvSpPr/>
          <p:nvPr/>
        </p:nvSpPr>
        <p:spPr>
          <a:xfrm>
            <a:off x="4210086" y="3167670"/>
            <a:ext cx="64008" cy="160020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607F6E2E-30D7-07F3-D34E-C1F0684C2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609" y="3277398"/>
            <a:ext cx="402336" cy="402336"/>
          </a:xfrm>
          <a:prstGeom prst="rect">
            <a:avLst/>
          </a:prstGeom>
        </p:spPr>
      </p:pic>
      <p:sp>
        <p:nvSpPr>
          <p:cNvPr id="51" name="Text 20">
            <a:extLst>
              <a:ext uri="{FF2B5EF4-FFF2-40B4-BE49-F238E27FC236}">
                <a16:creationId xmlns:a16="http://schemas.microsoft.com/office/drawing/2014/main" id="{280D5E69-FDFF-812E-C1F2-5BDAEE4A27FD}"/>
              </a:ext>
            </a:extLst>
          </p:cNvPr>
          <p:cNvSpPr/>
          <p:nvPr/>
        </p:nvSpPr>
        <p:spPr>
          <a:xfrm>
            <a:off x="4548777" y="385978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00" dirty="0"/>
              <a:t>Acyclic Guarantee: Deterministic DAG logic eliminates loops.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C435579A-3D82-B038-4A2A-6394740084BC}"/>
              </a:ext>
            </a:extLst>
          </p:cNvPr>
          <p:cNvSpPr/>
          <p:nvPr/>
        </p:nvSpPr>
        <p:spPr>
          <a:xfrm>
            <a:off x="2724912" y="41148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EAD472B8-3A48-A465-982E-71B0298A4DD1}"/>
              </a:ext>
            </a:extLst>
          </p:cNvPr>
          <p:cNvSpPr/>
          <p:nvPr/>
        </p:nvSpPr>
        <p:spPr>
          <a:xfrm>
            <a:off x="5355917" y="1350190"/>
            <a:ext cx="64008" cy="1600199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058481D4-E91C-DF3B-DE89-BFFB18C629D0}"/>
              </a:ext>
            </a:extLst>
          </p:cNvPr>
          <p:cNvSpPr/>
          <p:nvPr/>
        </p:nvSpPr>
        <p:spPr>
          <a:xfrm>
            <a:off x="4846320" y="45720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1F5DF4A8-2BE1-B27C-67F7-79EFAC112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9888" y="3244087"/>
            <a:ext cx="457200" cy="457200"/>
          </a:xfrm>
          <a:prstGeom prst="rect">
            <a:avLst/>
          </a:prstGeom>
        </p:spPr>
      </p:pic>
      <p:sp>
        <p:nvSpPr>
          <p:cNvPr id="53" name="Shape 22">
            <a:extLst>
              <a:ext uri="{FF2B5EF4-FFF2-40B4-BE49-F238E27FC236}">
                <a16:creationId xmlns:a16="http://schemas.microsoft.com/office/drawing/2014/main" id="{937AF0DC-8DFF-3813-CC1D-746FCE720BD5}"/>
              </a:ext>
            </a:extLst>
          </p:cNvPr>
          <p:cNvSpPr/>
          <p:nvPr/>
        </p:nvSpPr>
        <p:spPr>
          <a:xfrm>
            <a:off x="5433641" y="1341047"/>
            <a:ext cx="2318004" cy="1618488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endParaRPr lang="en-GB" dirty="0"/>
          </a:p>
        </p:txBody>
      </p:sp>
      <p:pic>
        <p:nvPicPr>
          <p:cNvPr id="45" name="Image 2" descr="preencoded.png">
            <a:extLst>
              <a:ext uri="{FF2B5EF4-FFF2-40B4-BE49-F238E27FC236}">
                <a16:creationId xmlns:a16="http://schemas.microsoft.com/office/drawing/2014/main" id="{89923235-F752-EA33-459D-D6283E867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513" y="1423343"/>
            <a:ext cx="402336" cy="40233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C4837C7-B81F-1BF9-9052-C8EB13994AA0}"/>
              </a:ext>
            </a:extLst>
          </p:cNvPr>
          <p:cNvSpPr txBox="1"/>
          <p:nvPr/>
        </p:nvSpPr>
        <p:spPr>
          <a:xfrm>
            <a:off x="5610643" y="1990271"/>
            <a:ext cx="2409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Adaptive Gamma: Dynamically balances load as battery dies.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9980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PROPOSED MODEL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Utility-Based Leader Selection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EFF"/>
                </a:solidFill>
              </a:rPr>
              <a:t>Selecting leaders based on 'Fitness' not 'Luck' — a deterministic, data-driven approach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8412480" cy="12344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89888"/>
            <a:ext cx="73152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447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B942"/>
                </a:solidFill>
              </a:rPr>
              <a:t>Utility Index Formula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U(n) = α · E_residual(n) / E_max  +  (1 − α) / d_avg(n)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2651760" cy="2011680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88920"/>
            <a:ext cx="2651760" cy="64008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0779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FC1"/>
                </a:solidFill>
              </a:rPr>
              <a:t>Energy Component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37307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EFF"/>
                </a:solidFill>
              </a:rPr>
              <a:t>Higher residual battery → higher score. We never pick a dying node to lead traffic.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00400" y="2788920"/>
            <a:ext cx="2651760" cy="2011680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2788920"/>
            <a:ext cx="265176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907792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37560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96F3"/>
                </a:solidFill>
              </a:rPr>
              <a:t>Density Component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3337560" y="37307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EFF"/>
                </a:solidFill>
              </a:rPr>
              <a:t>Nodes in less-crowded zones score higher. Prevents spatial hotspots from forming.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35040" y="2788920"/>
            <a:ext cx="2651760" cy="2011680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35040" y="278892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907792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72200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</a:rPr>
              <a:t>Elite Set Filter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172200" y="37307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EFF"/>
                </a:solidFill>
              </a:rPr>
              <a:t>Only nodes exceeding the network-wide mean utility are even considered as candidates.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PROPOSED MODEL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EBPT Routing + Adaptive Gamma Factor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The two mechanisms that eliminate energy imbalance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114800" cy="3383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338328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4904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7FC1"/>
                </a:solidFill>
              </a:rPr>
              <a:t>Energy-Balanced Path Tree (EBPT)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201168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3F6F"/>
                </a:solidFill>
              </a:rPr>
              <a:t>Multi-hop tree that prioritizes high-energy relay nodes at every step.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3F6F"/>
                </a:solidFill>
              </a:rPr>
              <a:t>Each node selects a parent closer to the sink based on remaining battery.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3F6F"/>
                </a:solidFill>
              </a:rPr>
              <a:t>Heavily burdened nodes become 'expensive' — traffic automatically reroutes to fresher paths.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3F6F"/>
                </a:solidFill>
              </a:rPr>
              <a:t>Acyclic directed graph guarantees zero routing loops.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1325880"/>
            <a:ext cx="411480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325880"/>
            <a:ext cx="64008" cy="16002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630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22392" y="1490472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60B"/>
                </a:solidFill>
              </a:rPr>
              <a:t>The Adaptive Gamma Factor (γ)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846320" y="2011680"/>
            <a:ext cx="3749040" cy="4023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83480" y="2066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γ = LOW  —  Prioritize speed &amp; shorter hops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846320" y="2487168"/>
            <a:ext cx="374904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83480" y="25420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γ = HIGH  —  Maximize fairness &amp; absolute longevity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663440" y="3063240"/>
            <a:ext cx="4114800" cy="164592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63440" y="3063240"/>
            <a:ext cx="64008" cy="164592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00600" y="3154680"/>
            <a:ext cx="3840480" cy="1417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00600" y="4572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1: Hierarchical Multi-hop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IMPLEMENTATION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Simulation Environment &amp; Tools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Rigorous, standards-based implementation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1600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047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Python 3.8+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0352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Core simulation engine — same language powering modern AI.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0" y="1325880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1325880"/>
            <a:ext cx="64008" cy="1600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49047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24912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NumPy + SciPy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24912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Vectorized heuristics &amp; distance matrix geometry.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154680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154680"/>
            <a:ext cx="64008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1927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352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Matplotlib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30352" y="41148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Spatial heatmaps, lifetime curves, and comparative charts.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560320" y="3154680"/>
            <a:ext cx="2011680" cy="160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560320" y="3154680"/>
            <a:ext cx="64008" cy="160020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31927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24912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First-Order Radio Model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2724912" y="41148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IEEE standard physics for real-world battery drain.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709160" y="1325880"/>
            <a:ext cx="4069080" cy="3383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09160" y="1325880"/>
            <a:ext cx="64008" cy="33832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46320" y="1417320"/>
            <a:ext cx="3794760" cy="31089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846320" y="45720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Table 1: Simulation Parameters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F0094C92-3871-6A48-AD86-3B94223CCE1D}"/>
              </a:ext>
            </a:extLst>
          </p:cNvPr>
          <p:cNvSpPr/>
          <p:nvPr/>
        </p:nvSpPr>
        <p:spPr>
          <a:xfrm>
            <a:off x="8344989" y="0"/>
            <a:ext cx="137160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80BEB36-B094-9A1A-896B-7C50DB8C0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251460"/>
            <a:ext cx="685800" cy="685800"/>
          </a:xfrm>
          <a:prstGeom prst="rect">
            <a:avLst/>
          </a:prstGeom>
        </p:spPr>
      </p:pic>
      <p:sp>
        <p:nvSpPr>
          <p:cNvPr id="4" name="Text 30">
            <a:extLst>
              <a:ext uri="{FF2B5EF4-FFF2-40B4-BE49-F238E27FC236}">
                <a16:creationId xmlns:a16="http://schemas.microsoft.com/office/drawing/2014/main" id="{C5EBFBEF-8129-5790-1A37-6D9569D2C127}"/>
              </a:ext>
            </a:extLst>
          </p:cNvPr>
          <p:cNvSpPr/>
          <p:nvPr/>
        </p:nvSpPr>
        <p:spPr>
          <a:xfrm>
            <a:off x="457200" y="1389888"/>
            <a:ext cx="7545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4000" dirty="0">
                <a:solidFill>
                  <a:srgbClr val="002060"/>
                </a:solidFill>
              </a:rPr>
              <a:t> Implementation: Executed Output Receipt</a:t>
            </a:r>
          </a:p>
          <a:p>
            <a:pPr marL="0" indent="0">
              <a:buNone/>
            </a:pP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10" name="Shape 36">
            <a:extLst>
              <a:ext uri="{FF2B5EF4-FFF2-40B4-BE49-F238E27FC236}">
                <a16:creationId xmlns:a16="http://schemas.microsoft.com/office/drawing/2014/main" id="{7AF32ED2-CCAD-8E5A-A0B7-9EBA5AA9D8E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11" name="Text 37">
            <a:extLst>
              <a:ext uri="{FF2B5EF4-FFF2-40B4-BE49-F238E27FC236}">
                <a16:creationId xmlns:a16="http://schemas.microsoft.com/office/drawing/2014/main" id="{A756A9E7-5FFE-96B8-E87A-BEE104126446}"/>
              </a:ext>
            </a:extLst>
          </p:cNvPr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2060"/>
                </a:solidFill>
              </a:rPr>
              <a:t>VANGUARD-WSN  ·  Amrita Vishwa Vidyapeetham  ·  Dept. of Mathematics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04F9F9-86A7-52CA-529D-B287AFA58B37}"/>
              </a:ext>
            </a:extLst>
          </p:cNvPr>
          <p:cNvSpPr txBox="1"/>
          <p:nvPr/>
        </p:nvSpPr>
        <p:spPr>
          <a:xfrm>
            <a:off x="2282372" y="2095604"/>
            <a:ext cx="45792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GB" dirty="0"/>
              <a:t>5. Implementation: Executed Output Receipt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AB8B81-8A37-DD46-406F-041EEAA48512}"/>
              </a:ext>
            </a:extLst>
          </p:cNvPr>
          <p:cNvSpPr txBox="1"/>
          <p:nvPr/>
        </p:nvSpPr>
        <p:spPr>
          <a:xfrm>
            <a:off x="2282372" y="2095604"/>
            <a:ext cx="45792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GB" dirty="0"/>
              <a:t>5. Implementation: Executed Output Receipt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1707B2-8BF0-0132-DC6F-304ACA344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548" y="2095604"/>
            <a:ext cx="4785933" cy="225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69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RESULTS: NETWORK STABILITY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Result 1: Network Lifetime — 10.21× Improvement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983480" cy="251460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88720"/>
            <a:ext cx="470916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67588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5: Network Lifetime Comparison (50 Nodes)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532120" y="1097280"/>
            <a:ext cx="3246120" cy="251460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50992" y="1188720"/>
            <a:ext cx="2999232" cy="2286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50992" y="367588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6: First &amp; Last Node Death Rounds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65760" y="4023360"/>
            <a:ext cx="2011680" cy="7772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4023360"/>
            <a:ext cx="201168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4C3C"/>
                </a:solidFill>
              </a:rPr>
              <a:t>97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7200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LEACH (Det) FND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560320" y="4023360"/>
            <a:ext cx="2011680" cy="7772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560320" y="4023360"/>
            <a:ext cx="20116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5176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993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2651760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Vanguard FND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0" y="4023360"/>
            <a:ext cx="2011680" cy="7772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54880" y="4023360"/>
            <a:ext cx="2011680" cy="6400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942"/>
                </a:solidFill>
              </a:rPr>
              <a:t>10.21×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846320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Stability Gain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949440" y="4023360"/>
            <a:ext cx="2011680" cy="7772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949440" y="4023360"/>
            <a:ext cx="201168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040880" y="4114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96F3"/>
                </a:solidFill>
              </a:rPr>
              <a:t>92.1%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7040880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of LP Bound (God-Line)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RESULTS: DATA PRODUCTIVITY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Result 2: 9.55x More Data Delivered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Because sensors survive longer, they keep transmitting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212080" cy="310896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3108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17320"/>
            <a:ext cx="4937760" cy="2880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3159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8: Cumulative Network Throughput Comparison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60720" y="1325880"/>
            <a:ext cx="3017520" cy="96012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1325880"/>
            <a:ext cx="64008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14173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</a:rPr>
              <a:t>118,500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943600" y="1856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52"/>
                </a:solidFill>
              </a:rPr>
              <a:t>Vanguard-WSN packets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60720" y="2468880"/>
            <a:ext cx="3017520" cy="96012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60720" y="2468880"/>
            <a:ext cx="64008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25603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4C3C"/>
                </a:solidFill>
              </a:rPr>
              <a:t>12,400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943600" y="2999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52"/>
                </a:solidFill>
              </a:rPr>
              <a:t>LEACH (Det) packets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760720" y="3611880"/>
            <a:ext cx="3017520" cy="96012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0720" y="3611880"/>
            <a:ext cx="64008" cy="9601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0" y="37033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B942"/>
                </a:solidFill>
              </a:rPr>
              <a:t>955%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5943600" y="4142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52"/>
                </a:solidFill>
              </a:rPr>
              <a:t>Throughput increase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760720" y="4645152"/>
            <a:ext cx="3017520" cy="13716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F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RESULTS: ENERGY DISTRIBUTION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Result 3: Perfect Spatial Energy Balance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Visual proof of the heatmap — no hotspots, no holes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8412480" cy="320040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3200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17320"/>
            <a:ext cx="8275320" cy="3017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55371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9: Spatial Energy Consumption — Baseline (left) vs. Vanguard-WSN (right)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812280" y="4572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FA3C0"/>
                </a:solidFill>
              </a:rPr>
              <a:t>Fig 7: Energy Fairness Curve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2F8F0D7C-E9E5-EC04-46C1-5EEF512541C5}"/>
              </a:ext>
            </a:extLst>
          </p:cNvPr>
          <p:cNvSpPr/>
          <p:nvPr/>
        </p:nvSpPr>
        <p:spPr>
          <a:xfrm>
            <a:off x="0" y="6096"/>
            <a:ext cx="9144000" cy="476141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D99446A-C30C-2843-2894-69FEB909E01B}"/>
              </a:ext>
            </a:extLst>
          </p:cNvPr>
          <p:cNvSpPr/>
          <p:nvPr/>
        </p:nvSpPr>
        <p:spPr>
          <a:xfrm>
            <a:off x="472440" y="1524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RESULTS: ENERGY DISTRIBUTION</a:t>
            </a:r>
            <a:endParaRPr lang="en-US" sz="85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BF78CE9E-E8BC-AD11-0C43-D076100A5E76}"/>
              </a:ext>
            </a:extLst>
          </p:cNvPr>
          <p:cNvSpPr/>
          <p:nvPr/>
        </p:nvSpPr>
        <p:spPr>
          <a:xfrm>
            <a:off x="0" y="4909566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9E8FAE6-310F-A5A3-0150-FFB613440BCD}"/>
              </a:ext>
            </a:extLst>
          </p:cNvPr>
          <p:cNvSpPr/>
          <p:nvPr/>
        </p:nvSpPr>
        <p:spPr>
          <a:xfrm>
            <a:off x="177799" y="4913303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B45CA41-A1BF-8910-231B-38784F5EBD69}"/>
              </a:ext>
            </a:extLst>
          </p:cNvPr>
          <p:cNvSpPr/>
          <p:nvPr/>
        </p:nvSpPr>
        <p:spPr>
          <a:xfrm>
            <a:off x="563880" y="6461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Result 3: Perfect Spatial Energy Balance</a:t>
            </a:r>
            <a:endParaRPr lang="en-US" sz="27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E7454BB9-7D0A-658E-8730-1322B6A569BD}"/>
              </a:ext>
            </a:extLst>
          </p:cNvPr>
          <p:cNvSpPr/>
          <p:nvPr/>
        </p:nvSpPr>
        <p:spPr>
          <a:xfrm>
            <a:off x="563880" y="11490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Visual proof of the heatmap — no hotspots, no holes</a:t>
            </a:r>
            <a:endParaRPr lang="en-US" sz="12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34E3327C-0D4E-4D3D-02B1-CF6149C868EB}"/>
              </a:ext>
            </a:extLst>
          </p:cNvPr>
          <p:cNvSpPr/>
          <p:nvPr/>
        </p:nvSpPr>
        <p:spPr>
          <a:xfrm>
            <a:off x="655320" y="470611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77738E3-00C1-E234-4D50-4893F5C64339}"/>
              </a:ext>
            </a:extLst>
          </p:cNvPr>
          <p:cNvSpPr/>
          <p:nvPr/>
        </p:nvSpPr>
        <p:spPr>
          <a:xfrm>
            <a:off x="3418115" y="203758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D7D38E26-E82F-C2E3-AEEB-98DEEAEAED87}"/>
              </a:ext>
            </a:extLst>
          </p:cNvPr>
          <p:cNvSpPr/>
          <p:nvPr/>
        </p:nvSpPr>
        <p:spPr>
          <a:xfrm>
            <a:off x="6964680" y="472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53E99712-04FD-CE53-D851-E2A1607132EE}"/>
              </a:ext>
            </a:extLst>
          </p:cNvPr>
          <p:cNvSpPr/>
          <p:nvPr/>
        </p:nvSpPr>
        <p:spPr>
          <a:xfrm>
            <a:off x="799956" y="2244562"/>
            <a:ext cx="64008" cy="1508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9E6ECB5D-0B15-17B7-6DDA-C3253FA7C7A1}"/>
              </a:ext>
            </a:extLst>
          </p:cNvPr>
          <p:cNvSpPr/>
          <p:nvPr/>
        </p:nvSpPr>
        <p:spPr>
          <a:xfrm>
            <a:off x="1123043" y="23484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Baseline (Left)</a:t>
            </a:r>
            <a:endParaRPr lang="en-US" sz="12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3208D13C-7A30-5E9D-D98C-B8D991266DE8}"/>
              </a:ext>
            </a:extLst>
          </p:cNvPr>
          <p:cNvSpPr/>
          <p:nvPr/>
        </p:nvSpPr>
        <p:spPr>
          <a:xfrm>
            <a:off x="1104248" y="267240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Deep red hotspots near center — classic Energy Hole. Nearby nodes exhausted while outer nodes waste full batteries.</a:t>
            </a:r>
            <a:endParaRPr lang="en-US" sz="1000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794B9601-A36D-8F9D-6145-F7430359AA9F}"/>
              </a:ext>
            </a:extLst>
          </p:cNvPr>
          <p:cNvSpPr/>
          <p:nvPr/>
        </p:nvSpPr>
        <p:spPr>
          <a:xfrm>
            <a:off x="4754879" y="1435027"/>
            <a:ext cx="3953691" cy="2874264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9FD1ABC9-DA8D-ECCC-F850-24E0245E5BAD}"/>
              </a:ext>
            </a:extLst>
          </p:cNvPr>
          <p:cNvSpPr/>
          <p:nvPr/>
        </p:nvSpPr>
        <p:spPr>
          <a:xfrm>
            <a:off x="4765185" y="1423416"/>
            <a:ext cx="64008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B8B97698-D4F1-290F-83CB-9371DA92EEEA}"/>
              </a:ext>
            </a:extLst>
          </p:cNvPr>
          <p:cNvSpPr/>
          <p:nvPr/>
        </p:nvSpPr>
        <p:spPr>
          <a:xfrm>
            <a:off x="5135880" y="141180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C1"/>
                </a:solidFill>
              </a:rPr>
              <a:t>Vanguard (Right)</a:t>
            </a:r>
            <a:endParaRPr lang="en-US" sz="12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D8C5DDAE-4728-0758-2D1D-2BE57262E0F6}"/>
              </a:ext>
            </a:extLst>
          </p:cNvPr>
          <p:cNvSpPr/>
          <p:nvPr/>
        </p:nvSpPr>
        <p:spPr>
          <a:xfrm>
            <a:off x="4861560" y="4151376"/>
            <a:ext cx="41251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Uniform warm gradient across the field. Every node shares the relay burden proportionally. Zero bottleneck zones.</a:t>
            </a:r>
            <a:endParaRPr lang="en-US" sz="1000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62E3D326-37BF-676A-D4BA-76D0CC61F529}"/>
              </a:ext>
            </a:extLst>
          </p:cNvPr>
          <p:cNvSpPr/>
          <p:nvPr/>
        </p:nvSpPr>
        <p:spPr>
          <a:xfrm>
            <a:off x="4765185" y="2875788"/>
            <a:ext cx="64008" cy="14142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6EF1A91E-519E-F211-FCF0-D86672E93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41316" y="1793747"/>
            <a:ext cx="3582265" cy="2200657"/>
          </a:xfrm>
          <a:prstGeom prst="rect">
            <a:avLst/>
          </a:prstGeom>
        </p:spPr>
      </p:pic>
      <p:sp>
        <p:nvSpPr>
          <p:cNvPr id="46" name="Text 19">
            <a:extLst>
              <a:ext uri="{FF2B5EF4-FFF2-40B4-BE49-F238E27FC236}">
                <a16:creationId xmlns:a16="http://schemas.microsoft.com/office/drawing/2014/main" id="{49AF330D-05A6-824B-143A-9C762EC6B781}"/>
              </a:ext>
            </a:extLst>
          </p:cNvPr>
          <p:cNvSpPr/>
          <p:nvPr/>
        </p:nvSpPr>
        <p:spPr>
          <a:xfrm>
            <a:off x="7056120" y="109735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FA3C0"/>
                </a:solidFill>
              </a:rPr>
              <a:t>Fig 7: Energy Fairness Curve</a:t>
            </a:r>
            <a:endParaRPr lang="en-US" sz="8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C68C1860-4EE5-8A73-BF6A-DCDB0A268C6E}"/>
              </a:ext>
            </a:extLst>
          </p:cNvPr>
          <p:cNvSpPr/>
          <p:nvPr/>
        </p:nvSpPr>
        <p:spPr>
          <a:xfrm>
            <a:off x="1752600" y="197332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28DEDBFE-7BE8-A77E-787A-F879D06F2E52}"/>
              </a:ext>
            </a:extLst>
          </p:cNvPr>
          <p:cNvSpPr/>
          <p:nvPr/>
        </p:nvSpPr>
        <p:spPr>
          <a:xfrm>
            <a:off x="7010400" y="3261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B2F5A5B3-2DEE-2654-74DA-A10CC162E63D}"/>
              </a:ext>
            </a:extLst>
          </p:cNvPr>
          <p:cNvSpPr/>
          <p:nvPr/>
        </p:nvSpPr>
        <p:spPr>
          <a:xfrm>
            <a:off x="7010400" y="3581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70204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RESULTS: EXECUTIVE SUMMARY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Result 4: Comparative Performance Summary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5120640" cy="237744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70432"/>
            <a:ext cx="4846320" cy="2148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5478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Table 2: Performance Comparison (50 Nodes)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65760" y="3794760"/>
            <a:ext cx="5120640" cy="960120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3858768"/>
            <a:ext cx="4846320" cy="8046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45720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Table 3: Ablation Study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669280" y="1078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B942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0" y="1417320"/>
            <a:ext cx="3108960" cy="713232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69280" y="1417320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33872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10.21×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833872" y="17922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FND improvement over LEACH (Det)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669280" y="2258568"/>
            <a:ext cx="3108960" cy="713232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0" y="2258568"/>
            <a:ext cx="64008" cy="71323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33872" y="2304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96F3"/>
                </a:solidFill>
              </a:rPr>
              <a:t>9.98×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833872" y="26334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Even LEACH (E-Aware) falls short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69280" y="3099816"/>
            <a:ext cx="3108960" cy="713232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669280" y="3099816"/>
            <a:ext cx="64008" cy="7132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33872" y="31455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B942"/>
                </a:solidFill>
              </a:rPr>
              <a:t>92.1%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5833872" y="34747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Of the theoretical LP optimum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669280" y="3941064"/>
            <a:ext cx="3108960" cy="713232"/>
          </a:xfrm>
          <a:prstGeom prst="rect">
            <a:avLst/>
          </a:prstGeom>
          <a:solidFill>
            <a:srgbClr val="2A3F6F"/>
          </a:solidFill>
          <a:ln w="12700">
            <a:solidFill>
              <a:srgbClr val="3A5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669280" y="3941064"/>
            <a:ext cx="64008" cy="713232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33872" y="39867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9DDB"/>
                </a:solidFill>
              </a:rPr>
              <a:t>0.156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5833872" y="43159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Jain's Fairness Index achieved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CHALLENGES &amp; FUTURE WORK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Limitations &amp; What Comes Next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F6F"/>
                </a:solidFill>
              </a:rPr>
              <a:t>Honest assessment and the road forward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11480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4475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399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Centralized Overhead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4128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Roll-call chatter uses a small battery 'tax' each round. Accounted for in our model but non-zero.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2514600"/>
            <a:ext cx="411480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2514600"/>
            <a:ext cx="64008" cy="10058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3347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24128" y="2587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Timing Idealization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24128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Simulation assumes perfect synchronization. Real radio deployments face interference and timing jitter.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5760" y="3703320"/>
            <a:ext cx="4114800" cy="100584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703320"/>
            <a:ext cx="64008" cy="10058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2219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4128" y="3776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Scalability at Range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24128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F6F"/>
                </a:solidFill>
              </a:rPr>
              <a:t>A single Brain may be too far from outer nodes in very large deployments spanning multiple kilometers.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1325880"/>
            <a:ext cx="4114800" cy="22402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1325880"/>
            <a:ext cx="64008" cy="22402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417320"/>
            <a:ext cx="3840480" cy="19659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0060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C0"/>
                </a:solidFill>
              </a:rPr>
              <a:t>Figure 4: Lifetime-Fairness Pareto Frontier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4663440" y="3703320"/>
            <a:ext cx="4114800" cy="493776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63440" y="3703320"/>
            <a:ext cx="64008" cy="4937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767328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30368" y="37673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RL-Based Auto-Tuning  —  Reinforcement learning for dynamic Gamma tuning without human intervention.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663440" y="4270248"/>
            <a:ext cx="4114800" cy="493776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663440" y="4270248"/>
            <a:ext cx="64008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334256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30368" y="43342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Hardware Deployment  —  Deploy algorithm on real Raspberry Pi / Arduino sensor nodes in the field.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FFFFF"/>
                </a:solidFill>
              </a:rPr>
              <a:t>REFERENCES &amp; ACKNOWLEDGMENTS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937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</a:rPr>
              <a:t>Sources &amp; Acknowledgments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2468880"/>
          </a:xfrm>
          <a:prstGeom prst="rect">
            <a:avLst/>
          </a:prstGeom>
          <a:solidFill>
            <a:srgbClr val="FAFCFF"/>
          </a:solidFill>
          <a:ln w="12700">
            <a:solidFill>
              <a:srgbClr val="D0D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64008" cy="246888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7955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3F6F"/>
                </a:solidFill>
              </a:rPr>
              <a:t>[1]  Heinzelman et al. — 'Energy-Efficient Communication Protocols for Wireless Microsensor Networks.' IEEE HICSS, 2000.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3F6F"/>
                </a:solidFill>
              </a:rPr>
              <a:t>[2]  Younis &amp; Fahmy — 'HEED: A Hybrid, Energy-Efficient, Distributed Clustering Approach.' IEEE Trans. Mobile Computing, 2004.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3F6F"/>
                </a:solidFill>
              </a:rPr>
              <a:t>[3]  Lindsey et al. — 'PEGASIS: Power-Efficient Gathering in Sensor Information Systems.' IEEE Aerospace, 2002.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3F6F"/>
                </a:solidFill>
              </a:rPr>
              <a:t>[4]  Vanguard Implementation — 'Utility-Driven EBPT Framework.' Department of Mathematics, Amrita Vishwa Vidyapeetham, 2026.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3F6F"/>
                </a:solidFill>
              </a:rPr>
              <a:t>[5]  First-Order Radio Model — IEEE Standard for Low-Power Wireless Sensor Physics.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841248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475488" cy="475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3977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Department of Mathematics  ·  Amrita Vishwa Vidyapeetham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431596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All figures generated using Python · Matplotlib · NetworkX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D52"/>
          </a:solidFill>
          <a:ln w="12700">
            <a:solidFill>
              <a:srgbClr val="1E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06440" y="0"/>
            <a:ext cx="13716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5943600" y="274320"/>
            <a:ext cx="310896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02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FA3C0"/>
                </a:solidFill>
              </a:rPr>
              <a:t>In 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8229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Vanguard-WSN Delivers</a:t>
            </a:r>
            <a:endParaRPr lang="en-US" sz="3500" dirty="0"/>
          </a:p>
        </p:txBody>
      </p:sp>
      <p:sp>
        <p:nvSpPr>
          <p:cNvPr id="9" name="Shape 6"/>
          <p:cNvSpPr/>
          <p:nvPr/>
        </p:nvSpPr>
        <p:spPr>
          <a:xfrm>
            <a:off x="457200" y="1536192"/>
            <a:ext cx="5212080" cy="676656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536192"/>
            <a:ext cx="73152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5819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10.21×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8368" y="191109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</a:rPr>
              <a:t>Longer network lifetime (FND)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331720"/>
            <a:ext cx="5212080" cy="676656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331720"/>
            <a:ext cx="73152" cy="67665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377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B942"/>
                </a:solidFill>
              </a:rPr>
              <a:t>92.1%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58368" y="270662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</a:rPr>
              <a:t>Approach to the LP theoretical optimum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127248"/>
            <a:ext cx="5212080" cy="676656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127248"/>
            <a:ext cx="73152" cy="67665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172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96F3"/>
                </a:solidFill>
              </a:rPr>
              <a:t>955%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58368" y="35021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</a:rPr>
              <a:t>More cumulative data delivered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922776"/>
            <a:ext cx="5212080" cy="676656"/>
          </a:xfrm>
          <a:prstGeom prst="rect">
            <a:avLst/>
          </a:prstGeom>
          <a:solidFill>
            <a:srgbClr val="1E2D52"/>
          </a:solidFill>
          <a:ln w="12700">
            <a:solidFill>
              <a:srgbClr val="2A3F6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922776"/>
            <a:ext cx="73152" cy="67665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39684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9DDB"/>
                </a:solidFill>
              </a:rPr>
              <a:t>0 holes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8368" y="42976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F"/>
                </a:solidFill>
              </a:rPr>
              <a:t>Zero energy hotspots — perfectly balanced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6817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C0"/>
                </a:solidFill>
              </a:rPr>
              <a:t>"Reliable data starts with a reliable network."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35040" y="3566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Thank You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035040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8DEFF"/>
                </a:solidFill>
              </a:rPr>
              <a:t>Questions &amp; Discussion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37960" y="4572000"/>
            <a:ext cx="18288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D20"/>
          </a:solidFill>
          <a:ln w="12700">
            <a:solidFill>
              <a:srgbClr val="050D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F"/>
                </a:solidFill>
              </a:rPr>
              <a:t>VANGUARD-WSN  ·  Amrita Vishwa Vidyapeetham  ·  Dept. of Mathematics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1299</Words>
  <Application>Microsoft Office PowerPoint</Application>
  <PresentationFormat>On-screen Show (16:9)</PresentationFormat>
  <Paragraphs>198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Vanguard-WSN</dc:title>
  <dc:subject>PptxGenJS Presentation</dc:subject>
  <dc:creator>PptxGenJS</dc:creator>
  <cp:lastModifiedBy>Deepika Anandakumar</cp:lastModifiedBy>
  <cp:revision>4</cp:revision>
  <dcterms:created xsi:type="dcterms:W3CDTF">2026-02-23T06:57:51Z</dcterms:created>
  <dcterms:modified xsi:type="dcterms:W3CDTF">2026-02-23T09:58:23Z</dcterms:modified>
</cp:coreProperties>
</file>